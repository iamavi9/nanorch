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71800"/>
            <a:ext cx="12188952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effectLst>
                  <a:glow rad="254000">
                    <a:srgbClr val="3B82F6">
                      <a:alpha val="40000"/>
                    </a:srgbClr>
                  </a:glow>
                </a:effectLst>
              </a:rPr>
              <a:t>NanoOrch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60A5FA"/>
                </a:solidFill>
              </a:rPr>
              <a:t>Enterprise AI Agent Orchestration Platform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1089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Architecture Overview  ·  C-Suite Executive Brief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6292" y="37033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6292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Multi-Tenant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872484" y="37033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2484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3-Tier RBAC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08676" y="37033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8676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SSO/SAML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944868" y="37033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4868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Pipeline/DAG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81060" y="3703320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106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Observability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Confidential —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1498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Self-Hosted &amp; Sovereign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Runs entirely on your infrastructure — no data leaves your environment.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4533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Multi-Tenant Workspaces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Isolated workspaces with per-tenant resource limits and membership controls.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7568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3-Tier RBAC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Super Admin · Workspace Admin · Member with granular permissions.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Enterprise SSO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OIDC and SAML 2.0 support for seamless identity provider integration.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363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Pipeline / DAG Chaining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Multi-step AI agent workflows with dependency graphs and parallel execution.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6674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Two-Way Messaging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Bi-directional Slack, Microsoft Teams, and Google Chat integration.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187952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97096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Full Observability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Token usage, cost tracking, utilization alerts, and audit logs per workspace.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718304"/>
            <a:ext cx="11247120" cy="475488"/>
          </a:xfrm>
          <a:prstGeom prst="roundRect">
            <a:avLst>
              <a:gd name="adj" fmla="val 11538"/>
            </a:avLst>
          </a:prstGeom>
          <a:solidFill>
            <a:srgbClr val="0D17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7274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Cloud Integrations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Native connectors for AWS, GCP, Azure, GitHub, GitLab, and Jira.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12064"/>
            <a:ext cx="164592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640080"/>
            <a:ext cx="11430000" cy="658368"/>
          </a:xfrm>
          <a:prstGeom prst="roundRect">
            <a:avLst>
              <a:gd name="adj" fmla="val 13889"/>
            </a:avLst>
          </a:prstGeom>
          <a:solidFill>
            <a:srgbClr val="0D1728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A855F7"/>
                </a:solidFill>
              </a:rPr>
              <a:t>ACCESS &amp; IDENTITY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02920" y="8686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34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8961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Web Browser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React + Vite SPA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34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8961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SSO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OIDC + SAML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172200" y="8686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34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8961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3-Tier RBAC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Super/Admin/Member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006840" y="8686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340"/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79992" y="8961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API Gateway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Session · CSRF · Rate Limits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89904" y="1298448"/>
            <a:ext cx="0" cy="14630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365760" y="1463040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7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4996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0A5FA"/>
                </a:solidFill>
              </a:rPr>
              <a:t>ORCHESTRATION ENGINE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75488" y="173736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76479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Task Executor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Parallel · Retry · Failover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" y="205740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08483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Pipeline / DAG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Multi-step chaining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" y="237744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0487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Cron Scheduler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Timezone-aware jobs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" y="269748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2491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Event Triggers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GitHub · GitLab · Jira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" y="301752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4495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Heartbeat Monitor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Per-agent health checks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5488" y="333756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B1E3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6499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Approval Gates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Human-in-the-loop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297680" y="1463040"/>
            <a:ext cx="3794760" cy="2212848"/>
          </a:xfrm>
          <a:prstGeom prst="roundRect">
            <a:avLst>
              <a:gd name="adj" fmla="val 4132"/>
            </a:avLst>
          </a:prstGeom>
          <a:solidFill>
            <a:srgbClr val="0D1728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14996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22D3EE"/>
                </a:solidFill>
              </a:rPr>
              <a:t>MULTI-TENANT WORKSPACES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407408" y="173736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176479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Orchestrators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Provider · Model · Concurrency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07408" y="205740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08483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Agents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Instructions · Tools · Memory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07408" y="237744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240487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Workspace Members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Isolated per tenant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407408" y="269748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272491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Resource Limits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Orchestrators · Agents · Channels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07408" y="301752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304495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Observability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Token usage · Utilization alerts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07408" y="333756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24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336499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Channel Delivery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Task · Heartbeat · Pipeline · Job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183880" y="1463040"/>
            <a:ext cx="3794760" cy="1316736"/>
          </a:xfrm>
          <a:prstGeom prst="roundRect">
            <a:avLst>
              <a:gd name="adj" fmla="val 6944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21040" y="14996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34D399"/>
                </a:solidFill>
              </a:rPr>
              <a:t>TWO-WAY MESSAGING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293608" y="1737360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1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6760" y="1764792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Slack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Inbound + Outbound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293608" y="1984248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1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2011680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Microsoft Teams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Inbound + Outbound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93608" y="2231136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1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2258568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Google Chat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Inbound + Outbound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293608" y="2478024"/>
            <a:ext cx="3575304" cy="384048"/>
          </a:xfrm>
          <a:prstGeom prst="roundRect">
            <a:avLst>
              <a:gd name="adj" fmla="val 14286"/>
            </a:avLst>
          </a:prstGeom>
          <a:solidFill>
            <a:srgbClr val="051E14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66760" y="2505456"/>
            <a:ext cx="3483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Generic Webhook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Outbound delivery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83880" y="2852928"/>
            <a:ext cx="3794760" cy="822960"/>
          </a:xfrm>
          <a:prstGeom prst="roundRect">
            <a:avLst>
              <a:gd name="adj" fmla="val 11111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28895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B923C"/>
                </a:solidFill>
              </a:rPr>
              <a:t>CLOUD INTEGRATIONS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293608" y="3099816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66760" y="3099816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AWS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9555480" y="3099816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628632" y="3099816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GCP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10817352" y="3099816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890504" y="3099816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Azure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293608" y="3355848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366760" y="3355848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GitHub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555480" y="3355848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28632" y="3355848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GitLab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10817352" y="3355848"/>
            <a:ext cx="1161288" cy="274320"/>
          </a:xfrm>
          <a:prstGeom prst="roundRect">
            <a:avLst>
              <a:gd name="adj" fmla="val 20000"/>
            </a:avLst>
          </a:prstGeom>
          <a:solidFill>
            <a:srgbClr val="1E0D00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90504" y="3355848"/>
            <a:ext cx="1069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Jira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089904" y="3675888"/>
            <a:ext cx="0" cy="14630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open"/>
          </a:ln>
        </p:spPr>
      </p:sp>
      <p:sp>
        <p:nvSpPr>
          <p:cNvPr id="69" name="Shape 67"/>
          <p:cNvSpPr/>
          <p:nvPr/>
        </p:nvSpPr>
        <p:spPr>
          <a:xfrm>
            <a:off x="365760" y="384048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3858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472B6"/>
                </a:solidFill>
              </a:rPr>
              <a:t>AI PROVIDERS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02920" y="4041648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0A14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072" y="4069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OpenAI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GPT-4o · GPT-4o mini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246120" y="4041648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0A14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4069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Anthropic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Claude 3.5 Sonnet +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89320" y="4041648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0A14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62472" y="4069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Google Gemini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Gemini 2.0 Flash +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732520" y="4041648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0A14"/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05672" y="4069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Ollama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Self-hosted models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9921240" y="41330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94A3B8"/>
                </a:solidFill>
              </a:rPr>
              <a:t>Failover: primary → fallback automatically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6089904" y="4389120"/>
            <a:ext cx="0" cy="146304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tailEnd type="open"/>
          </a:ln>
        </p:spPr>
      </p:sp>
      <p:sp>
        <p:nvSpPr>
          <p:cNvPr id="81" name="Shape 79"/>
          <p:cNvSpPr/>
          <p:nvPr/>
        </p:nvSpPr>
        <p:spPr>
          <a:xfrm>
            <a:off x="365760" y="4553712"/>
            <a:ext cx="11430000" cy="566928"/>
          </a:xfrm>
          <a:prstGeom prst="roundRect">
            <a:avLst>
              <a:gd name="adj" fmla="val 16129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2920" y="457200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FDE047"/>
                </a:solidFill>
              </a:rPr>
              <a:t>DATA LAYER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02920" y="47548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4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6072" y="47823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PostgreSQL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Primary data store · Migrations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46120" y="47548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4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19272" y="47823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Token Usage &amp; Cost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Per workspace · Per model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989320" y="47548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4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62472" y="47823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Encrypted Credentials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AES-256-GCM · Docker Secrets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8732520" y="475488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1E1400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805672" y="4782312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Audit Logs
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</a:rPr>
              <a:t>Task logs · Delivery history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0" y="6601968"/>
            <a:ext cx="1218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</a:rPr>
              <a:t>Self-hosted · Docker · PostgreSQL · Express.js · React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Orchestration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Executor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2161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Parallel execution with configurable concurrency limits per orchestrator. Automatic retry with exponential back-off (up to N retries). Failover to secondary AI provider on error.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0" y="8686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/ DAG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2161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Multi-step agent chains with ordered steps. Output of each step is available as input to the next. Full run history and per-step status tracking.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801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Cron Scheduler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05740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Timezone-aware cron expressions for recurring jobs. Per-job channel delivery notification on completion or failure.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09360" y="1709928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801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 Triggers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73952" y="205740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Webhook-driven triggers from GitHub, GitLab, and Jira. Filter on event type, branch, label, or project. Prompt templates with event payload interpolation.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642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Heartbeat Monitor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89864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Periodic health-check tasks per agent. Configurable interval and silence phrase. Alerts dispatched to a designated delivery channel on anomaly.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2551176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642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Approval Gates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289864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Human-in-the-loop control: tasks requiring approval are paused and queued for workspace admin review before execution resumes.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&amp; Security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20116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SSO — OIDC + SAML 2.0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2161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Plug in any identity provider (Okta, Azure AD, Google Workspace, Keycloak). Automatic role mapping to workspace roles on first login.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9360" y="868680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9601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3-Tier RBAC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2161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Super Admins manage platform-wide settings and all workspaces. Workspace Admins control members, orchestrators, and resource limits. Members can submit tasks and view results.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801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Credential Encryption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05740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All cloud integration credentials are encrypted at rest using AES-256-GCM with a key derived from SESSION_SECRET via scrypt. Docker Secrets support for production deployments.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09360" y="1709928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80136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Workspace Isolation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73952" y="205740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Full data isolation between tenants. Resource quotas: max orchestrators, agents, channels, and scheduled jobs per workspace. Allowed AI provider and cloud provider allowlists.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551176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642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Approval Workflow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289864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Any agent action flagged as requiring approval is held in a pending queue. Workspace admins receive a badge count alert and must explicitly approve or reject before execution.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2551176"/>
            <a:ext cx="5669280" cy="777240"/>
          </a:xfrm>
          <a:prstGeom prst="roundRect">
            <a:avLst>
              <a:gd name="adj" fmla="val 11765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64261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Audit &amp; Observability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73952" y="289864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Per-task logs at info/warn/error level. Channel delivery receipts with HTTP status and response body. Token usage and estimated cost tracked per workspace and per model.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Providers &amp; Cloud Integrations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201168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A8D4"/>
                </a:solidFill>
              </a:rPr>
              <a:t>AI PROVIDERS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43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43560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GPT-4o, GPT-4o mini, o1, o3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1792" y="160020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Most capable general-purpose models. Streaming supported.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7510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Anthropic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16712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Claude 3.5 Sonnet, Claude 3 Haiku+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21792" y="233172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Strong reasoning. Tool-use and vision capable.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066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Gemini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289864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Gemini 2.0 Flash, Gemini 1.5 Pro+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1792" y="306324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Multimodal support. Long context windows.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5394960" cy="658368"/>
          </a:xfrm>
          <a:prstGeom prst="roundRect">
            <a:avLst>
              <a:gd name="adj" fmla="val 13889"/>
            </a:avLst>
          </a:prstGeom>
          <a:solidFill>
            <a:srgbClr val="0D1728"/>
          </a:solidFill>
          <a:ln w="762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4381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Ollama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" y="36301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</a:rPr>
              <a:t>Any locally hosted model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1792" y="379476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Self-hosted for air-gapped or cost-sensitive deployments.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414223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Automatic failover: if the primary provider returns an error, NanoOrch transparently retries with the configured fallback provider and model.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00800" y="9144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DB47C"/>
                </a:solidFill>
              </a:rPr>
              <a:t>CLOUD &amp; DEV INTEGRATIONS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170432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12435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AWS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45389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EC2, S3, Lambda tool access via integrated credentials.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400800" y="1792224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186537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GCP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65392" y="20756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Cloud Run, GCS, BigQuery connectivity.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00800" y="2414016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487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Azure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5392" y="269748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Azure Blob, Functions, and resource management.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00800" y="3035808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31089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GitHub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65392" y="33192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Webhook triggers on push, PR, and issue events.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400800" y="36576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06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65392" y="3730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GitLab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65392" y="39410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Webhook triggers on pipeline, MR, and push events.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400800" y="4279392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0D1728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43525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Jira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65392" y="45628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Create/update issues, search, sprints, comments.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Delivery &amp; Observability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04088"/>
            <a:ext cx="201168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EE7B7"/>
                </a:solidFill>
              </a:rPr>
              <a:t>TWO-WAY MESSAGING CHANNELS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6187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Slack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Send task results, pipeline status, heartbeat alerts. Receive user prompts and route to an agent automatically.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103120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Microsoft Teams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313432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Webhook-based outbound delivery. Inbound message parsing routes to the assigned agent in the channel.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944368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Chat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15468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Space-based inbound and outbound. Verification token for security. Full two-way agent conversation support.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694176"/>
            <a:ext cx="5577840" cy="749808"/>
          </a:xfrm>
          <a:prstGeom prst="roundRect">
            <a:avLst>
              <a:gd name="adj" fmla="val 12195"/>
            </a:avLst>
          </a:prstGeom>
          <a:solidFill>
            <a:srgbClr val="0D1728"/>
          </a:solidFill>
          <a:ln w="762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85616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Generic Webhook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995928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POST JSON payload to any HTTPS endpoint on task completion, pipeline finish, or scheduled job result.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0" y="9144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DE047"/>
                </a:solidFill>
              </a:rPr>
              <a:t>OBSERVABILITY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170432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2618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Token Usage Tracking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65392" y="14721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Input + output tokens logged per task, per agent, and per model with estimated USD cost.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400800" y="1975104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20665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Utilization Alerts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65392" y="227685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Configurable token threshold per workspace. Alert dispatched to a delivery channel when exceeded.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2779776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8712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Task Audit Log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65392" y="308152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Full log of every task: status transitions, error messages, retries, and duration.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3584448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36758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Channel Delivery Receipts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65392" y="38862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HTTP status code and response body stored for every outbound channel delivery attempt.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0" y="4389120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0D1728"/>
          </a:solidFill>
          <a:ln w="7620">
            <a:solidFill>
              <a:srgbClr val="EAB3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44805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Pipeline Run History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65392" y="4690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Per-step status, output, and timing stored for every pipeline run.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NanoOrch?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The only self-hosted, multi-tenant AI agent orchestrator built for enterprise scale.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0" y="29535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0" y="28803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100% on-premises — full data sovereignty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0" y="327355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32004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Extensible agent tooling via cloud integrations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359359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3520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Human oversight via approval gates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39136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38404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Real-time team collaboration via two-way messaging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423367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41605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Built-in cost controls and utilization alerts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Questions?  |  github.com/your-org/nanoorch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2026-03-20T15:54:19Z</dcterms:created>
  <dcterms:modified xsi:type="dcterms:W3CDTF">2026-03-20T15:54:19Z</dcterms:modified>
</cp:coreProperties>
</file>